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3" r:id="rId5"/>
    <p:sldId id="267" r:id="rId6"/>
    <p:sldId id="268" r:id="rId7"/>
    <p:sldId id="264" r:id="rId8"/>
    <p:sldId id="265" r:id="rId9"/>
    <p:sldId id="266" r:id="rId10"/>
  </p:sldIdLst>
  <p:sldSz cx="18288000" cy="10287000"/>
  <p:notesSz cx="6858000" cy="9144000"/>
  <p:embeddedFontLst>
    <p:embeddedFont>
      <p:font typeface="Cy Grotesk Wide" panose="020B0604020202020204" charset="-52"/>
      <p:regular r:id="rId12"/>
    </p:embeddedFont>
    <p:embeddedFont>
      <p:font typeface="Cy Grotesk Wide Bold" panose="020B0604020202020204" charset="-52"/>
      <p:regular r:id="rId13"/>
    </p:embeddedFont>
    <p:embeddedFont>
      <p:font typeface="Lastica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58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675AD-C4FA-445C-BE18-7B394BDB005B}" type="datetimeFigureOut">
              <a:rPr lang="bg-BG" smtClean="0"/>
              <a:t>17.5.2026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B2DB2-08E7-4E83-B129-9CD13CF5386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33972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visualstudio.microsoft.com/vs/" TargetMode="External"/><Relationship Id="rId13" Type="http://schemas.openxmlformats.org/officeDocument/2006/relationships/image" Target="../media/image12.png"/><Relationship Id="rId1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12" Type="http://schemas.openxmlformats.org/officeDocument/2006/relationships/hyperlink" Target="https://www.microsoft.com/en-ww/microsoft-365/powerpoint" TargetMode="External"/><Relationship Id="rId17" Type="http://schemas.openxmlformats.org/officeDocument/2006/relationships/image" Target="../media/image14.png"/><Relationship Id="rId2" Type="http://schemas.openxmlformats.org/officeDocument/2006/relationships/image" Target="../media/image1.svg"/><Relationship Id="rId16" Type="http://schemas.openxmlformats.org/officeDocument/2006/relationships/hyperlink" Target="https://git-scm.com/" TargetMode="External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plusplus.com/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10" Type="http://schemas.openxmlformats.org/officeDocument/2006/relationships/hyperlink" Target="https://www.microsoft.com/en-ww/microsoft-365/word" TargetMode="External"/><Relationship Id="rId19" Type="http://schemas.openxmlformats.org/officeDocument/2006/relationships/hyperlink" Target="https://www.raylib.com/" TargetMode="External"/><Relationship Id="rId4" Type="http://schemas.openxmlformats.org/officeDocument/2006/relationships/hyperlink" Target="https://github.com/" TargetMode="External"/><Relationship Id="rId9" Type="http://schemas.openxmlformats.org/officeDocument/2006/relationships/image" Target="../media/image10.png"/><Relationship Id="rId14" Type="http://schemas.openxmlformats.org/officeDocument/2006/relationships/hyperlink" Target="https://www.microsoft.com/en/microsoft-teams/group-chat-softwar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2127816" y="2744127"/>
            <a:ext cx="14032368" cy="163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16"/>
              </a:lnSpc>
            </a:pPr>
            <a:r>
              <a:rPr lang="en-US" sz="9440" b="1" spc="1123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Prime logic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889BA0D4-C92B-AB2D-7112-D7E1670709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33400" y="-220276"/>
            <a:ext cx="4724400" cy="25750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1870911" y="4408468"/>
            <a:ext cx="14706600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32"/>
              </a:lnSpc>
            </a:pPr>
            <a:r>
              <a:rPr lang="en-US" sz="2732" dirty="0" err="1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PrimeLogic</a:t>
            </a:r>
            <a:r>
              <a:rPr lang="en-US" sz="2732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 is a desktop application developed in C++ for managing football teams, matches, standings, and statistics through a modern graphical user interface. The project combines software engineering principles, algorithms, and data management in a complete football management system.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1A2A6B43-1F48-B151-78CF-232FAE1E8C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33400" y="-220276"/>
            <a:ext cx="4724400" cy="2575042"/>
          </a:xfrm>
          <a:prstGeom prst="rect">
            <a:avLst/>
          </a:prstGeom>
        </p:spPr>
      </p:pic>
      <p:sp>
        <p:nvSpPr>
          <p:cNvPr id="8" name="TextBox 6"/>
          <p:cNvSpPr txBox="1"/>
          <p:nvPr/>
        </p:nvSpPr>
        <p:spPr>
          <a:xfrm>
            <a:off x="1371600" y="1775878"/>
            <a:ext cx="15515310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About the project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14400" y="4686300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8001000" y="4270046"/>
            <a:ext cx="9274342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94944" lvl="1" algn="just">
              <a:lnSpc>
                <a:spcPts val="2732"/>
              </a:lnSpc>
            </a:pPr>
            <a:r>
              <a:rPr lang="en-US" sz="2732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The main goal of </a:t>
            </a:r>
            <a:r>
              <a:rPr lang="en-US" sz="2732" dirty="0" err="1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PrimeLogic</a:t>
            </a:r>
            <a:r>
              <a:rPr lang="en-US" sz="2732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 is to create a functional football score management application with an intuitive graphical interface. The project focuses on modular programming, algorithms, data processing, and collaborative teamwork.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5400" y="1790700"/>
            <a:ext cx="15515310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Project Objectives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0D478246-14C9-92C9-C692-E608F9305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33400" y="-220276"/>
            <a:ext cx="4724400" cy="25750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7772400" y="3695700"/>
            <a:ext cx="9902028" cy="173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945" lvl="1" algn="just">
              <a:lnSpc>
                <a:spcPts val="2732"/>
              </a:lnSpc>
            </a:pPr>
            <a:r>
              <a:rPr lang="en-US" sz="2732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The application allows users to manage football teams, add matches, calculate standings automatically, search teams by name, and generate statistics through a graphical interface.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0600" y="1537145"/>
            <a:ext cx="15515310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Main Features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38CB42AB-5778-5266-D4E8-637664D9D2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33400" y="-220276"/>
            <a:ext cx="4724400" cy="25750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82AE8-21EE-EA7F-5D38-21D88F42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29FDD0-D59B-3974-456F-D279DB14201B}"/>
              </a:ext>
            </a:extLst>
          </p:cNvPr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DEB50B9-770B-BB06-E810-65764FED910F}"/>
              </a:ext>
            </a:extLst>
          </p:cNvPr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843F132-B7A7-087D-5D69-AEC4449C23A0}"/>
              </a:ext>
            </a:extLst>
          </p:cNvPr>
          <p:cNvSpPr txBox="1"/>
          <p:nvPr/>
        </p:nvSpPr>
        <p:spPr>
          <a:xfrm>
            <a:off x="7620000" y="4371784"/>
            <a:ext cx="9902028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945" lvl="1" algn="just">
              <a:lnSpc>
                <a:spcPts val="2732"/>
              </a:lnSpc>
            </a:pPr>
            <a:r>
              <a:rPr lang="en-US" sz="2732" dirty="0" err="1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PrimeLogic</a:t>
            </a:r>
            <a:r>
              <a:rPr lang="en-US" sz="2732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 follows a layered architecture consisting of Presentation, Logic, Data, and Common layers. This structure improves code organization, scalability, and maintainability.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20AC7F0-AD6A-A2DB-3E62-78FCCD4B6AFA}"/>
              </a:ext>
            </a:extLst>
          </p:cNvPr>
          <p:cNvSpPr txBox="1"/>
          <p:nvPr/>
        </p:nvSpPr>
        <p:spPr>
          <a:xfrm>
            <a:off x="990600" y="1928222"/>
            <a:ext cx="15515310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System Architecture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293CD05C-5AF9-5683-C727-03DE34C171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33400" y="-220276"/>
            <a:ext cx="4724400" cy="257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3196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72F550-745A-7D0B-9E79-25E668CC2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54848A-5696-3262-2AA8-727EE66218D9}"/>
              </a:ext>
            </a:extLst>
          </p:cNvPr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F5BA067-D7DF-1418-BE53-206DE2588B1A}"/>
              </a:ext>
            </a:extLst>
          </p:cNvPr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D9E7A9F-C3FE-8097-18D9-C5877F42B086}"/>
              </a:ext>
            </a:extLst>
          </p:cNvPr>
          <p:cNvSpPr txBox="1"/>
          <p:nvPr/>
        </p:nvSpPr>
        <p:spPr>
          <a:xfrm>
            <a:off x="7620000" y="4371784"/>
            <a:ext cx="9902028" cy="173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945" lvl="1" algn="just">
              <a:lnSpc>
                <a:spcPts val="2732"/>
              </a:lnSpc>
            </a:pPr>
            <a:r>
              <a:rPr lang="en-US" sz="2732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The project uses Bubble Sort for standings, Linear Search for team searching, and recursion for goal calculations. The graphical interface contains multiple panels for teams, matches, standings, search, and statistics.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B889E50-42D5-8CD1-9380-9378CCBE1BB5}"/>
              </a:ext>
            </a:extLst>
          </p:cNvPr>
          <p:cNvSpPr txBox="1"/>
          <p:nvPr/>
        </p:nvSpPr>
        <p:spPr>
          <a:xfrm>
            <a:off x="990600" y="1930681"/>
            <a:ext cx="15515310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Algorithms and UI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995BD337-AC80-45FD-2125-8578212FBF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33400" y="-220276"/>
            <a:ext cx="4724400" cy="257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46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9137" y="1407081"/>
            <a:ext cx="15249726" cy="1423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9"/>
              </a:lnSpc>
            </a:pPr>
            <a:r>
              <a:rPr lang="en-US" sz="7720" b="1" spc="918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Our team</a:t>
            </a:r>
          </a:p>
        </p:txBody>
      </p:sp>
      <p:sp>
        <p:nvSpPr>
          <p:cNvPr id="3" name="Freeform 3"/>
          <p:cNvSpPr/>
          <p:nvPr/>
        </p:nvSpPr>
        <p:spPr>
          <a:xfrm>
            <a:off x="-2513204" y="6507643"/>
            <a:ext cx="6619707" cy="6818050"/>
          </a:xfrm>
          <a:custGeom>
            <a:avLst/>
            <a:gdLst/>
            <a:ahLst/>
            <a:cxnLst/>
            <a:rect l="l" t="t" r="r" b="b"/>
            <a:pathLst>
              <a:path w="6619707" h="6818050">
                <a:moveTo>
                  <a:pt x="0" y="0"/>
                </a:moveTo>
                <a:lnTo>
                  <a:pt x="6619707" y="0"/>
                </a:lnTo>
                <a:lnTo>
                  <a:pt x="6619707" y="6818050"/>
                </a:lnTo>
                <a:lnTo>
                  <a:pt x="0" y="6818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8" name="Freeform 8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22" name="TextBox 22"/>
          <p:cNvSpPr txBox="1"/>
          <p:nvPr/>
        </p:nvSpPr>
        <p:spPr>
          <a:xfrm>
            <a:off x="13888551" y="7033682"/>
            <a:ext cx="3021276" cy="874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 dirty="0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Selin</a:t>
            </a:r>
            <a:r>
              <a:rPr lang="bg-BG" sz="2599" b="1" dirty="0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 </a:t>
            </a:r>
            <a:r>
              <a:rPr lang="en-US" sz="2599" b="1" dirty="0" err="1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Aydanova</a:t>
            </a:r>
            <a:r>
              <a:rPr lang="en-US" sz="2599" b="1" dirty="0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 Vatansever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18860" y="8034443"/>
            <a:ext cx="3360659" cy="32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023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QA ENGINEER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3125" y="7084119"/>
            <a:ext cx="3754836" cy="874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 dirty="0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Tatiana Dimitrova </a:t>
            </a:r>
            <a:r>
              <a:rPr lang="en-US" sz="2599" b="1" dirty="0" err="1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Kovacheva</a:t>
            </a:r>
            <a:endParaRPr lang="en-US" sz="2599" b="1" dirty="0">
              <a:solidFill>
                <a:srgbClr val="3C6CA8"/>
              </a:solidFill>
              <a:latin typeface="Cy Grotesk Wide Bold"/>
              <a:ea typeface="Cy Grotesk Wide Bold"/>
              <a:cs typeface="Cy Grotesk Wide Bold"/>
              <a:sym typeface="Cy Grotesk Wid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40214" y="8084880"/>
            <a:ext cx="3360659" cy="34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023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SCRUM TRAINER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21018" y="7033663"/>
            <a:ext cx="3659070" cy="874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 dirty="0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Plamen Nikolaev Rusev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21018" y="8034424"/>
            <a:ext cx="3360659" cy="680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023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BACK-END DEVELOPER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10435" y="7029211"/>
            <a:ext cx="3653434" cy="874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 dirty="0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Mustafa Husein Mustafa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59397" y="8084842"/>
            <a:ext cx="3360659" cy="680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023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FRONT-END DEVELOPER</a:t>
            </a:r>
          </a:p>
        </p:txBody>
      </p:sp>
      <p:pic>
        <p:nvPicPr>
          <p:cNvPr id="30" name="Картина 29">
            <a:extLst>
              <a:ext uri="{FF2B5EF4-FFF2-40B4-BE49-F238E27FC236}">
                <a16:creationId xmlns:a16="http://schemas.microsoft.com/office/drawing/2014/main" id="{DD4C4A8D-85AE-82F6-10B1-5D97664794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33400" y="-220276"/>
            <a:ext cx="4724400" cy="257504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1876" y="3125081"/>
            <a:ext cx="3911993" cy="391199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8860" y="3161601"/>
            <a:ext cx="3981320" cy="386761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262" y="3091078"/>
            <a:ext cx="3945996" cy="394599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3431" y="3125081"/>
            <a:ext cx="3959038" cy="395903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Freeform 5">
            <a:hlinkClick r:id="rId4"/>
          </p:cNvPr>
          <p:cNvSpPr/>
          <p:nvPr/>
        </p:nvSpPr>
        <p:spPr>
          <a:xfrm>
            <a:off x="14055443" y="4191567"/>
            <a:ext cx="1913938" cy="1903865"/>
          </a:xfrm>
          <a:custGeom>
            <a:avLst/>
            <a:gdLst/>
            <a:ahLst/>
            <a:cxnLst/>
            <a:rect l="l" t="t" r="r" b="b"/>
            <a:pathLst>
              <a:path w="1913938" h="1903865">
                <a:moveTo>
                  <a:pt x="0" y="0"/>
                </a:moveTo>
                <a:lnTo>
                  <a:pt x="1913938" y="0"/>
                </a:lnTo>
                <a:lnTo>
                  <a:pt x="1913938" y="1903866"/>
                </a:lnTo>
                <a:lnTo>
                  <a:pt x="0" y="19038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6" name="Freeform 6">
            <a:hlinkClick r:id="rId6"/>
          </p:cNvPr>
          <p:cNvSpPr>
            <a:spLocks/>
          </p:cNvSpPr>
          <p:nvPr/>
        </p:nvSpPr>
        <p:spPr>
          <a:xfrm>
            <a:off x="11439458" y="4191567"/>
            <a:ext cx="1692060" cy="1903865"/>
          </a:xfrm>
          <a:custGeom>
            <a:avLst/>
            <a:gdLst/>
            <a:ahLst/>
            <a:cxnLst/>
            <a:rect l="l" t="t" r="r" b="b"/>
            <a:pathLst>
              <a:path w="1692060" h="1903865">
                <a:moveTo>
                  <a:pt x="0" y="0"/>
                </a:moveTo>
                <a:lnTo>
                  <a:pt x="1692060" y="0"/>
                </a:lnTo>
                <a:lnTo>
                  <a:pt x="1692060" y="1903866"/>
                </a:lnTo>
                <a:lnTo>
                  <a:pt x="0" y="19038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7" name="Freeform 7">
            <a:hlinkClick r:id="rId8"/>
          </p:cNvPr>
          <p:cNvSpPr/>
          <p:nvPr/>
        </p:nvSpPr>
        <p:spPr>
          <a:xfrm>
            <a:off x="8300153" y="4191567"/>
            <a:ext cx="1903865" cy="1903865"/>
          </a:xfrm>
          <a:custGeom>
            <a:avLst/>
            <a:gdLst/>
            <a:ahLst/>
            <a:cxnLst/>
            <a:rect l="l" t="t" r="r" b="b"/>
            <a:pathLst>
              <a:path w="1903865" h="1903865">
                <a:moveTo>
                  <a:pt x="0" y="0"/>
                </a:moveTo>
                <a:lnTo>
                  <a:pt x="1903865" y="0"/>
                </a:lnTo>
                <a:lnTo>
                  <a:pt x="1903865" y="1903866"/>
                </a:lnTo>
                <a:lnTo>
                  <a:pt x="0" y="19038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8" name="Freeform 8">
            <a:hlinkClick r:id="rId10"/>
          </p:cNvPr>
          <p:cNvSpPr/>
          <p:nvPr/>
        </p:nvSpPr>
        <p:spPr>
          <a:xfrm>
            <a:off x="8352510" y="6809655"/>
            <a:ext cx="1851509" cy="1903865"/>
          </a:xfrm>
          <a:custGeom>
            <a:avLst/>
            <a:gdLst/>
            <a:ahLst/>
            <a:cxnLst/>
            <a:rect l="l" t="t" r="r" b="b"/>
            <a:pathLst>
              <a:path w="1851509" h="1903865">
                <a:moveTo>
                  <a:pt x="0" y="0"/>
                </a:moveTo>
                <a:lnTo>
                  <a:pt x="1851508" y="0"/>
                </a:lnTo>
                <a:lnTo>
                  <a:pt x="1851508" y="1903865"/>
                </a:lnTo>
                <a:lnTo>
                  <a:pt x="0" y="190386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9" name="Freeform 9">
            <a:hlinkClick r:id="rId12"/>
          </p:cNvPr>
          <p:cNvSpPr/>
          <p:nvPr/>
        </p:nvSpPr>
        <p:spPr>
          <a:xfrm>
            <a:off x="11175568" y="6809655"/>
            <a:ext cx="1965280" cy="1903865"/>
          </a:xfrm>
          <a:custGeom>
            <a:avLst/>
            <a:gdLst/>
            <a:ahLst/>
            <a:cxnLst/>
            <a:rect l="l" t="t" r="r" b="b"/>
            <a:pathLst>
              <a:path w="1965280" h="1903865">
                <a:moveTo>
                  <a:pt x="0" y="0"/>
                </a:moveTo>
                <a:lnTo>
                  <a:pt x="1965280" y="0"/>
                </a:lnTo>
                <a:lnTo>
                  <a:pt x="1965280" y="1903865"/>
                </a:lnTo>
                <a:lnTo>
                  <a:pt x="0" y="190386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10" name="Freeform 10">
            <a:hlinkClick r:id="rId14"/>
          </p:cNvPr>
          <p:cNvSpPr/>
          <p:nvPr/>
        </p:nvSpPr>
        <p:spPr>
          <a:xfrm>
            <a:off x="14167849" y="6809655"/>
            <a:ext cx="1801532" cy="1903865"/>
          </a:xfrm>
          <a:custGeom>
            <a:avLst/>
            <a:gdLst/>
            <a:ahLst/>
            <a:cxnLst/>
            <a:rect l="l" t="t" r="r" b="b"/>
            <a:pathLst>
              <a:path w="1801532" h="1903865">
                <a:moveTo>
                  <a:pt x="0" y="0"/>
                </a:moveTo>
                <a:lnTo>
                  <a:pt x="1801532" y="0"/>
                </a:lnTo>
                <a:lnTo>
                  <a:pt x="1801532" y="1903865"/>
                </a:lnTo>
                <a:lnTo>
                  <a:pt x="0" y="190386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11" name="Freeform 11">
            <a:hlinkClick r:id="rId16"/>
          </p:cNvPr>
          <p:cNvSpPr/>
          <p:nvPr/>
        </p:nvSpPr>
        <p:spPr>
          <a:xfrm>
            <a:off x="5693481" y="4191567"/>
            <a:ext cx="1903865" cy="1903865"/>
          </a:xfrm>
          <a:custGeom>
            <a:avLst/>
            <a:gdLst/>
            <a:ahLst/>
            <a:cxnLst/>
            <a:rect l="l" t="t" r="r" b="b"/>
            <a:pathLst>
              <a:path w="1903865" h="1903865">
                <a:moveTo>
                  <a:pt x="0" y="0"/>
                </a:moveTo>
                <a:lnTo>
                  <a:pt x="1903865" y="0"/>
                </a:lnTo>
                <a:lnTo>
                  <a:pt x="1903865" y="1903866"/>
                </a:lnTo>
                <a:lnTo>
                  <a:pt x="0" y="19038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12" name="TextBox 12"/>
          <p:cNvSpPr txBox="1"/>
          <p:nvPr/>
        </p:nvSpPr>
        <p:spPr>
          <a:xfrm>
            <a:off x="1066800" y="1852553"/>
            <a:ext cx="1551531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Technologies used</a:t>
            </a:r>
          </a:p>
        </p:txBody>
      </p:sp>
      <p:pic>
        <p:nvPicPr>
          <p:cNvPr id="13" name="Картина 12">
            <a:extLst>
              <a:ext uri="{FF2B5EF4-FFF2-40B4-BE49-F238E27FC236}">
                <a16:creationId xmlns:a16="http://schemas.microsoft.com/office/drawing/2014/main" id="{2F65DC17-DE97-CC20-FBA7-6B2D3A8F147B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33400" y="-220276"/>
            <a:ext cx="4724400" cy="2575042"/>
          </a:xfrm>
          <a:prstGeom prst="rect">
            <a:avLst/>
          </a:prstGeom>
        </p:spPr>
      </p:pic>
      <p:pic>
        <p:nvPicPr>
          <p:cNvPr id="1026" name="Picture 2">
            <a:hlinkClick r:id="rId19"/>
            <a:extLst>
              <a:ext uri="{FF2B5EF4-FFF2-40B4-BE49-F238E27FC236}">
                <a16:creationId xmlns:a16="http://schemas.microsoft.com/office/drawing/2014/main" id="{7695ABDB-7FDB-AB8E-D952-42106BE36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809" y="4191567"/>
            <a:ext cx="1903865" cy="1903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2127816" y="2744127"/>
            <a:ext cx="14032368" cy="332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16"/>
              </a:lnSpc>
            </a:pPr>
            <a:r>
              <a:rPr lang="en-US" sz="9440" b="1" spc="1123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Let's go to our project.</a:t>
            </a: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1A7A8D51-F2D2-187A-A993-CED003ADFD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33400" y="-220276"/>
            <a:ext cx="4724400" cy="25750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221</Words>
  <Application>Microsoft Office PowerPoint</Application>
  <PresentationFormat>По избор</PresentationFormat>
  <Paragraphs>22</Paragraphs>
  <Slides>9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9</vt:i4>
      </vt:variant>
    </vt:vector>
  </HeadingPairs>
  <TitlesOfParts>
    <vt:vector size="15" baseType="lpstr">
      <vt:lpstr>Lastica Bold</vt:lpstr>
      <vt:lpstr>Calibri</vt:lpstr>
      <vt:lpstr>Cy Grotesk Wide</vt:lpstr>
      <vt:lpstr>Cy Grotesk Wide Bold</vt:lpstr>
      <vt:lpstr>Arial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Legends</dc:title>
  <dc:creator>Пламен</dc:creator>
  <cp:lastModifiedBy>Николай П. Русев</cp:lastModifiedBy>
  <cp:revision>13</cp:revision>
  <dcterms:created xsi:type="dcterms:W3CDTF">2006-08-16T00:00:00Z</dcterms:created>
  <dcterms:modified xsi:type="dcterms:W3CDTF">2026-05-17T20:34:12Z</dcterms:modified>
  <dc:identifier>DAG6fRJF_m8</dc:identifier>
</cp:coreProperties>
</file>